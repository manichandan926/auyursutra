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DM Sans" panose="020F0502020204030204" pitchFamily="2" charset="0"/>
      <p:regular r:id="rId11"/>
      <p:bold r:id="rId12"/>
    </p:embeddedFont>
    <p:embeddedFont>
      <p:font typeface="Libre Baskerville" panose="020F0502020204030204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CCC8"/>
    <a:srgbClr val="FFFD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135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D30DA-1F0B-41CA-18CB-6D7D435B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6F39A-DD7D-59FF-61B4-BE57548A7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77EB9-13BF-7991-0A5C-34A30893F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E2A0C-1645-6E0A-36B4-9909092310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43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91320"/>
            <a:ext cx="7556421" cy="354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AyurSutra – Panchakarma Patient Management and Therapy Scheduling Software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8753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75BA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Name : Bio Vision</a:t>
            </a:r>
            <a:br>
              <a:rPr lang="en-US" sz="2000" dirty="0">
                <a:solidFill>
                  <a:srgbClr val="75BA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</a:br>
            <a:r>
              <a:rPr lang="en-US" sz="2000" dirty="0">
                <a:solidFill>
                  <a:srgbClr val="75BA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India Hackathon 2025</a:t>
            </a: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| Problem Statement ID: SIH25023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2213"/>
            <a:ext cx="96295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 Statement &amp; Challenges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74620"/>
            <a:ext cx="4196358" cy="2085142"/>
          </a:xfrm>
          <a:prstGeom prst="roundRect">
            <a:avLst>
              <a:gd name="adj" fmla="val 7017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3310" y="2674620"/>
            <a:ext cx="121920" cy="2085142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42524" y="29319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Manual Scheduling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422333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Confusion &amp; delays in Ayurveda clinics.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674620"/>
            <a:ext cx="4196358" cy="2085142"/>
          </a:xfrm>
          <a:prstGeom prst="roundRect">
            <a:avLst>
              <a:gd name="adj" fmla="val 7017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186482" y="2674620"/>
            <a:ext cx="121920" cy="2085142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565696" y="2931914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Therapist &amp; Room Conflicts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776663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Issues with multiple patient arrivals.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674620"/>
            <a:ext cx="4196358" cy="2085142"/>
          </a:xfrm>
          <a:prstGeom prst="roundRect">
            <a:avLst>
              <a:gd name="adj" fmla="val 7017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609653" y="2674620"/>
            <a:ext cx="121920" cy="2085142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988868" y="2931914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Disconnected Prescriptions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776663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Doctor prescriptions not digitally linked to therapy.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986576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63310" y="4986576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142524" y="52438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Language Barriers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2524" y="573428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multilingual support for patients.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216962" y="4986576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186482" y="4986576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565696" y="52438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Lack of Audit Logs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65696" y="573428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transparency &amp; accountability.</a:t>
            </a:r>
            <a:endParaRPr lang="en-US" sz="175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0B2D405-EAF5-336B-AF1C-AFFC4F1B9B82}"/>
              </a:ext>
            </a:extLst>
          </p:cNvPr>
          <p:cNvSpPr/>
          <p:nvPr/>
        </p:nvSpPr>
        <p:spPr>
          <a:xfrm>
            <a:off x="12901961" y="7716644"/>
            <a:ext cx="1728439" cy="423746"/>
          </a:xfrm>
          <a:prstGeom prst="round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3292" y="489704"/>
            <a:ext cx="6780490" cy="55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Proposed Solution: AyurSutra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23292" y="1402437"/>
            <a:ext cx="13383816" cy="284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Role-based login &amp; online patient registration.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23292" y="1749623"/>
            <a:ext cx="13383816" cy="284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Integrated doctor consultation &amp; digital prescription.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3292" y="2096810"/>
            <a:ext cx="13383816" cy="284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therapist &amp; room scheduling.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3292" y="2443996"/>
            <a:ext cx="13383816" cy="284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Multilingual UI support &amp; patient feedback system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3292" y="2791182"/>
            <a:ext cx="13383816" cy="284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override with audit logs for transparency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200" y="2791182"/>
            <a:ext cx="11552873" cy="51419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1258" y="3523518"/>
            <a:ext cx="2770392" cy="752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Patient Registration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454050" y="7028332"/>
            <a:ext cx="2770392" cy="75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Doctor Consultation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113608" y="3523518"/>
            <a:ext cx="2770393" cy="752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Digital Prescriptions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46399" y="7041675"/>
            <a:ext cx="2770393" cy="75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Automated Scheduling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05958" y="3523518"/>
            <a:ext cx="2770393" cy="752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Multilingual Support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919018" y="7028332"/>
            <a:ext cx="2770392" cy="376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Audit &amp; Admin</a:t>
            </a:r>
            <a:endParaRPr lang="en-US" sz="14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657A6D5-9844-D1BB-5BA0-80EF037F1482}"/>
              </a:ext>
            </a:extLst>
          </p:cNvPr>
          <p:cNvSpPr/>
          <p:nvPr/>
        </p:nvSpPr>
        <p:spPr>
          <a:xfrm>
            <a:off x="12790449" y="7716644"/>
            <a:ext cx="1728439" cy="423746"/>
          </a:xfrm>
          <a:prstGeom prst="round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128" y="354449"/>
            <a:ext cx="7093506" cy="40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Technical Approach &amp; System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1128" y="950595"/>
            <a:ext cx="1611511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Stack: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1128" y="1461373"/>
            <a:ext cx="6706791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React.js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1128" y="1712595"/>
            <a:ext cx="6706791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Spring Boot + Quartz Scheduler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80102" y="1461373"/>
            <a:ext cx="6706791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Database: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PostgreSQL / CockroachDB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80102" y="1712595"/>
            <a:ext cx="6706791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Hosting: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Vercel (frontend), Render (backend)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80102" y="1963817"/>
            <a:ext cx="6706791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 &amp; Security: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JWT + Spring Security</a:t>
            </a:r>
            <a:endParaRPr lang="en-US" sz="16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5455C4A-3FFE-D8B4-420F-91F62857BEB9}"/>
              </a:ext>
            </a:extLst>
          </p:cNvPr>
          <p:cNvGrpSpPr/>
          <p:nvPr/>
        </p:nvGrpSpPr>
        <p:grpSpPr>
          <a:xfrm>
            <a:off x="54104" y="1779290"/>
            <a:ext cx="14464783" cy="6773695"/>
            <a:chOff x="451128" y="2360057"/>
            <a:chExt cx="13728144" cy="7796213"/>
          </a:xfrm>
        </p:grpSpPr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128" y="2360057"/>
              <a:ext cx="13728144" cy="7796213"/>
            </a:xfrm>
            <a:prstGeom prst="rect">
              <a:avLst/>
            </a:prstGeom>
          </p:spPr>
        </p:pic>
        <p:pic>
          <p:nvPicPr>
            <p:cNvPr id="10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53799" y="6359584"/>
              <a:ext cx="409092" cy="409092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885469" y="8187716"/>
              <a:ext cx="3068194" cy="7670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50"/>
                </a:lnSpc>
                <a:buNone/>
              </a:pPr>
              <a:r>
                <a:rPr lang="en-US" sz="135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Client</a:t>
              </a:r>
              <a:endParaRPr lang="en-US" sz="135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776378" y="8711235"/>
              <a:ext cx="3286377" cy="3068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5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Web &amp; mobile apps (React)</a:t>
              </a:r>
              <a:endParaRPr lang="en-US" sz="1050" dirty="0"/>
            </a:p>
          </p:txBody>
        </p:sp>
        <p:pic>
          <p:nvPicPr>
            <p:cNvPr id="13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4718" y="5773218"/>
              <a:ext cx="409092" cy="409093"/>
            </a:xfrm>
            <a:prstGeom prst="rect">
              <a:avLst/>
            </a:prstGeom>
          </p:spPr>
        </p:pic>
        <p:sp>
          <p:nvSpPr>
            <p:cNvPr id="14" name="Text 9"/>
            <p:cNvSpPr/>
            <p:nvPr/>
          </p:nvSpPr>
          <p:spPr>
            <a:xfrm>
              <a:off x="3353661" y="3528962"/>
              <a:ext cx="3068194" cy="3835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650"/>
                </a:lnSpc>
                <a:buNone/>
              </a:pPr>
              <a:r>
                <a:rPr lang="en-US" sz="135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Frontend</a:t>
              </a:r>
              <a:endParaRPr lang="en-US" sz="1350" dirty="0"/>
            </a:p>
          </p:txBody>
        </p:sp>
        <p:sp>
          <p:nvSpPr>
            <p:cNvPr id="15" name="Text 10"/>
            <p:cNvSpPr/>
            <p:nvPr/>
          </p:nvSpPr>
          <p:spPr>
            <a:xfrm>
              <a:off x="3244570" y="4021578"/>
              <a:ext cx="3286377" cy="3068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5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React.js UI served on Vercel</a:t>
              </a:r>
              <a:endParaRPr lang="en-US" sz="1050" dirty="0"/>
            </a:p>
          </p:txBody>
        </p:sp>
        <p:pic>
          <p:nvPicPr>
            <p:cNvPr id="16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35636" y="6359584"/>
              <a:ext cx="409093" cy="409092"/>
            </a:xfrm>
            <a:prstGeom prst="rect">
              <a:avLst/>
            </a:prstGeom>
          </p:spPr>
        </p:pic>
        <p:sp>
          <p:nvSpPr>
            <p:cNvPr id="17" name="Text 11"/>
            <p:cNvSpPr/>
            <p:nvPr/>
          </p:nvSpPr>
          <p:spPr>
            <a:xfrm>
              <a:off x="5767307" y="8187716"/>
              <a:ext cx="3068194" cy="7670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50"/>
                </a:lnSpc>
                <a:buNone/>
              </a:pPr>
              <a:r>
                <a:rPr lang="en-US" sz="135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Backend API</a:t>
              </a:r>
              <a:endParaRPr lang="en-US" sz="1350" dirty="0"/>
            </a:p>
          </p:txBody>
        </p:sp>
        <p:sp>
          <p:nvSpPr>
            <p:cNvPr id="18" name="Text 12"/>
            <p:cNvSpPr/>
            <p:nvPr/>
          </p:nvSpPr>
          <p:spPr>
            <a:xfrm>
              <a:off x="5658216" y="8711234"/>
              <a:ext cx="3286377" cy="3068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5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Spring Boot + JWT auth</a:t>
              </a:r>
              <a:endParaRPr lang="en-US" sz="1050" dirty="0"/>
            </a:p>
          </p:txBody>
        </p:sp>
        <p:pic>
          <p:nvPicPr>
            <p:cNvPr id="19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576555" y="5773218"/>
              <a:ext cx="409092" cy="409093"/>
            </a:xfrm>
            <a:prstGeom prst="rect">
              <a:avLst/>
            </a:prstGeom>
          </p:spPr>
        </p:pic>
        <p:sp>
          <p:nvSpPr>
            <p:cNvPr id="20" name="Text 13"/>
            <p:cNvSpPr/>
            <p:nvPr/>
          </p:nvSpPr>
          <p:spPr>
            <a:xfrm>
              <a:off x="8235498" y="3498388"/>
              <a:ext cx="3068193" cy="3835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650"/>
                </a:lnSpc>
                <a:buNone/>
              </a:pPr>
              <a:r>
                <a:rPr lang="en-US" sz="135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Database</a:t>
              </a:r>
              <a:endParaRPr lang="en-US" sz="1350" dirty="0"/>
            </a:p>
          </p:txBody>
        </p:sp>
        <p:sp>
          <p:nvSpPr>
            <p:cNvPr id="21" name="Text 14"/>
            <p:cNvSpPr/>
            <p:nvPr/>
          </p:nvSpPr>
          <p:spPr>
            <a:xfrm>
              <a:off x="8126407" y="4016206"/>
              <a:ext cx="3286377" cy="6136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5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Postgres / CockroachDB storage</a:t>
              </a:r>
              <a:endParaRPr lang="en-US" sz="1050" dirty="0"/>
            </a:p>
          </p:txBody>
        </p:sp>
        <p:pic>
          <p:nvPicPr>
            <p:cNvPr id="22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017474" y="6359584"/>
              <a:ext cx="409092" cy="409092"/>
            </a:xfrm>
            <a:prstGeom prst="rect">
              <a:avLst/>
            </a:prstGeom>
          </p:spPr>
        </p:pic>
        <p:sp>
          <p:nvSpPr>
            <p:cNvPr id="23" name="Text 15"/>
            <p:cNvSpPr/>
            <p:nvPr/>
          </p:nvSpPr>
          <p:spPr>
            <a:xfrm>
              <a:off x="10676417" y="8187716"/>
              <a:ext cx="3068194" cy="7670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50"/>
                </a:lnSpc>
                <a:buNone/>
              </a:pPr>
              <a:r>
                <a:rPr lang="en-US" sz="135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Notifications</a:t>
              </a:r>
              <a:endParaRPr lang="en-US" sz="1350" dirty="0"/>
            </a:p>
          </p:txBody>
        </p:sp>
        <p:sp>
          <p:nvSpPr>
            <p:cNvPr id="24" name="Text 16"/>
            <p:cNvSpPr/>
            <p:nvPr/>
          </p:nvSpPr>
          <p:spPr>
            <a:xfrm>
              <a:off x="10567326" y="8711235"/>
              <a:ext cx="3286377" cy="6136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5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Queued messages &amp; scheduler</a:t>
              </a:r>
              <a:endParaRPr lang="en-US" sz="1050" dirty="0"/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587624D-3168-7D15-41C0-AD77B7AC17CD}"/>
              </a:ext>
            </a:extLst>
          </p:cNvPr>
          <p:cNvSpPr/>
          <p:nvPr/>
        </p:nvSpPr>
        <p:spPr>
          <a:xfrm>
            <a:off x="12847857" y="7792356"/>
            <a:ext cx="1728439" cy="423746"/>
          </a:xfrm>
          <a:prstGeom prst="round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084" y="378857"/>
            <a:ext cx="4668441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Workflow: Patient Journey</a:t>
            </a:r>
            <a:endParaRPr lang="en-US" sz="27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4812621-8E3C-C4AD-293B-9C20A58E32E3}"/>
              </a:ext>
            </a:extLst>
          </p:cNvPr>
          <p:cNvGrpSpPr/>
          <p:nvPr/>
        </p:nvGrpSpPr>
        <p:grpSpPr>
          <a:xfrm>
            <a:off x="4768239" y="5477153"/>
            <a:ext cx="2615779" cy="892599"/>
            <a:chOff x="4905994" y="5952586"/>
            <a:chExt cx="2615779" cy="892599"/>
          </a:xfrm>
        </p:grpSpPr>
        <p:sp>
          <p:nvSpPr>
            <p:cNvPr id="7" name="Text 3"/>
            <p:cNvSpPr/>
            <p:nvPr/>
          </p:nvSpPr>
          <p:spPr>
            <a:xfrm>
              <a:off x="4905994" y="5952586"/>
              <a:ext cx="2404689" cy="3695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650"/>
                </a:lnSpc>
                <a:buNone/>
              </a:pPr>
              <a:r>
                <a:rPr lang="en-US" sz="135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Consultation</a:t>
              </a:r>
              <a:endParaRPr lang="en-US" sz="135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5117084" y="6253868"/>
              <a:ext cx="2404689" cy="5913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5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Doctor consults and adds prescription</a:t>
              </a:r>
              <a:endParaRPr lang="en-US" sz="105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8BAFAF3-E9D6-3E0B-F07A-BD1B34F6BC42}"/>
              </a:ext>
            </a:extLst>
          </p:cNvPr>
          <p:cNvGrpSpPr/>
          <p:nvPr/>
        </p:nvGrpSpPr>
        <p:grpSpPr>
          <a:xfrm>
            <a:off x="9941672" y="5481886"/>
            <a:ext cx="2391549" cy="1145079"/>
            <a:chOff x="9610250" y="6206137"/>
            <a:chExt cx="2391549" cy="1145079"/>
          </a:xfrm>
        </p:grpSpPr>
        <p:sp>
          <p:nvSpPr>
            <p:cNvPr id="13" name="Text 7"/>
            <p:cNvSpPr/>
            <p:nvPr/>
          </p:nvSpPr>
          <p:spPr>
            <a:xfrm>
              <a:off x="9610250" y="6206137"/>
              <a:ext cx="2391549" cy="510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50"/>
                </a:lnSpc>
                <a:buNone/>
              </a:pPr>
              <a:r>
                <a:rPr lang="en-US" sz="135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Therapy &amp; Feedback</a:t>
              </a:r>
              <a:endParaRPr lang="en-US" sz="1350" dirty="0"/>
            </a:p>
          </p:txBody>
        </p:sp>
        <p:sp>
          <p:nvSpPr>
            <p:cNvPr id="14" name="Text 8"/>
            <p:cNvSpPr/>
            <p:nvPr/>
          </p:nvSpPr>
          <p:spPr>
            <a:xfrm>
              <a:off x="9610250" y="6464240"/>
              <a:ext cx="2391549" cy="886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5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Session, therapist updates and feedback</a:t>
              </a:r>
              <a:endParaRPr lang="en-US" sz="1050" dirty="0"/>
            </a:p>
          </p:txBody>
        </p:sp>
      </p:grpSp>
      <p:sp>
        <p:nvSpPr>
          <p:cNvPr id="28" name="Text 21"/>
          <p:cNvSpPr/>
          <p:nvPr/>
        </p:nvSpPr>
        <p:spPr>
          <a:xfrm>
            <a:off x="482084" y="8466773"/>
            <a:ext cx="137755" cy="172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7384018" y="8466773"/>
            <a:ext cx="137755" cy="172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42" y="1029645"/>
            <a:ext cx="14148316" cy="57216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60982" y="1777827"/>
            <a:ext cx="1774236" cy="22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Registration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718267" y="2081086"/>
            <a:ext cx="1774236" cy="358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or offline signup and token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7664436" y="1769782"/>
            <a:ext cx="1774236" cy="22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Scheduling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689985" y="2069768"/>
            <a:ext cx="1774236" cy="358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Auto-assign therapist and room</a:t>
            </a:r>
            <a:endParaRPr lang="en-US" sz="105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FC7BC62-116D-5A2A-BE5E-5CDE781288A8}"/>
              </a:ext>
            </a:extLst>
          </p:cNvPr>
          <p:cNvGrpSpPr/>
          <p:nvPr/>
        </p:nvGrpSpPr>
        <p:grpSpPr>
          <a:xfrm>
            <a:off x="1039005" y="6183477"/>
            <a:ext cx="12644338" cy="615596"/>
            <a:chOff x="1039005" y="6183477"/>
            <a:chExt cx="10138666" cy="615596"/>
          </a:xfrm>
        </p:grpSpPr>
        <p:sp>
          <p:nvSpPr>
            <p:cNvPr id="24" name="Text 17"/>
            <p:cNvSpPr/>
            <p:nvPr/>
          </p:nvSpPr>
          <p:spPr>
            <a:xfrm>
              <a:off x="7910426" y="6210453"/>
              <a:ext cx="137755" cy="17216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050" dirty="0">
                  <a:solidFill>
                    <a:srgbClr val="454240"/>
                  </a:solidFill>
                  <a:latin typeface="Libre Baskerville Light" pitchFamily="34" charset="0"/>
                  <a:ea typeface="Libre Baskerville Light" pitchFamily="34" charset="-122"/>
                  <a:cs typeface="Libre Baskerville Light" pitchFamily="34" charset="-120"/>
                </a:rPr>
                <a:t>03</a:t>
              </a:r>
              <a:endParaRPr lang="en-US" sz="1050" dirty="0"/>
            </a:p>
          </p:txBody>
        </p:sp>
        <p:sp>
          <p:nvSpPr>
            <p:cNvPr id="16" name="Text 9"/>
            <p:cNvSpPr/>
            <p:nvPr/>
          </p:nvSpPr>
          <p:spPr>
            <a:xfrm>
              <a:off x="1040494" y="6189230"/>
              <a:ext cx="249826" cy="2302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050" dirty="0">
                  <a:solidFill>
                    <a:srgbClr val="454240"/>
                  </a:solidFill>
                  <a:latin typeface="Libre Baskerville Light" pitchFamily="34" charset="0"/>
                  <a:ea typeface="Libre Baskerville Light" pitchFamily="34" charset="-122"/>
                  <a:cs typeface="Libre Baskerville Light" pitchFamily="34" charset="-120"/>
                </a:rPr>
                <a:t>01</a:t>
              </a:r>
              <a:endParaRPr lang="en-US" sz="1050" dirty="0"/>
            </a:p>
          </p:txBody>
        </p:sp>
        <p:sp>
          <p:nvSpPr>
            <p:cNvPr id="20" name="Text 13"/>
            <p:cNvSpPr/>
            <p:nvPr/>
          </p:nvSpPr>
          <p:spPr>
            <a:xfrm>
              <a:off x="4492503" y="6183477"/>
              <a:ext cx="102197" cy="1044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050" dirty="0">
                  <a:solidFill>
                    <a:srgbClr val="454240"/>
                  </a:solidFill>
                  <a:latin typeface="Libre Baskerville Light" pitchFamily="34" charset="0"/>
                  <a:ea typeface="Libre Baskerville Light" pitchFamily="34" charset="-122"/>
                  <a:cs typeface="Libre Baskerville Light" pitchFamily="34" charset="-120"/>
                </a:rPr>
                <a:t>02</a:t>
              </a:r>
              <a:endParaRPr lang="en-US" sz="1050" dirty="0"/>
            </a:p>
          </p:txBody>
        </p:sp>
        <p:sp>
          <p:nvSpPr>
            <p:cNvPr id="17" name="Shape 10"/>
            <p:cNvSpPr/>
            <p:nvPr/>
          </p:nvSpPr>
          <p:spPr>
            <a:xfrm>
              <a:off x="1039005" y="6424500"/>
              <a:ext cx="3311394" cy="9245"/>
            </a:xfrm>
            <a:prstGeom prst="rect">
              <a:avLst/>
            </a:prstGeom>
            <a:solidFill>
              <a:srgbClr val="B88E23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 11"/>
            <p:cNvSpPr/>
            <p:nvPr/>
          </p:nvSpPr>
          <p:spPr>
            <a:xfrm>
              <a:off x="1039005" y="6484738"/>
              <a:ext cx="1288378" cy="13051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35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Patient Registration</a:t>
              </a:r>
              <a:endParaRPr lang="en-US" sz="1350" dirty="0"/>
            </a:p>
          </p:txBody>
        </p:sp>
        <p:sp>
          <p:nvSpPr>
            <p:cNvPr id="19" name="Text 12"/>
            <p:cNvSpPr/>
            <p:nvPr/>
          </p:nvSpPr>
          <p:spPr>
            <a:xfrm>
              <a:off x="1039005" y="6665379"/>
              <a:ext cx="3311394" cy="1336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05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Online or offline, token generated.</a:t>
              </a:r>
              <a:endParaRPr lang="en-US" sz="1050" dirty="0"/>
            </a:p>
          </p:txBody>
        </p:sp>
        <p:sp>
          <p:nvSpPr>
            <p:cNvPr id="21" name="Shape 14"/>
            <p:cNvSpPr/>
            <p:nvPr/>
          </p:nvSpPr>
          <p:spPr>
            <a:xfrm>
              <a:off x="4452596" y="6424500"/>
              <a:ext cx="3311394" cy="9245"/>
            </a:xfrm>
            <a:prstGeom prst="rect">
              <a:avLst/>
            </a:prstGeom>
            <a:solidFill>
              <a:srgbClr val="B88E23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 15"/>
            <p:cNvSpPr/>
            <p:nvPr/>
          </p:nvSpPr>
          <p:spPr>
            <a:xfrm>
              <a:off x="4452596" y="6484738"/>
              <a:ext cx="1331571" cy="13051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35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Doctor Consultation</a:t>
              </a:r>
              <a:endParaRPr lang="en-US" sz="1350" dirty="0"/>
            </a:p>
          </p:txBody>
        </p:sp>
        <p:sp>
          <p:nvSpPr>
            <p:cNvPr id="23" name="Text 16"/>
            <p:cNvSpPr/>
            <p:nvPr/>
          </p:nvSpPr>
          <p:spPr>
            <a:xfrm>
              <a:off x="4452596" y="6665379"/>
              <a:ext cx="3311394" cy="1336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05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Prescription entered into the system.</a:t>
              </a:r>
              <a:endParaRPr lang="en-US" sz="1050" dirty="0"/>
            </a:p>
          </p:txBody>
        </p:sp>
        <p:sp>
          <p:nvSpPr>
            <p:cNvPr id="25" name="Shape 18"/>
            <p:cNvSpPr/>
            <p:nvPr/>
          </p:nvSpPr>
          <p:spPr>
            <a:xfrm>
              <a:off x="7866189" y="6424500"/>
              <a:ext cx="3311482" cy="9245"/>
            </a:xfrm>
            <a:prstGeom prst="rect">
              <a:avLst/>
            </a:prstGeom>
            <a:solidFill>
              <a:srgbClr val="B88E23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 19"/>
            <p:cNvSpPr/>
            <p:nvPr/>
          </p:nvSpPr>
          <p:spPr>
            <a:xfrm>
              <a:off x="7866189" y="6484738"/>
              <a:ext cx="1498780" cy="13051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35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Automated Scheduling</a:t>
              </a:r>
              <a:endParaRPr lang="en-US" sz="1350" dirty="0"/>
            </a:p>
          </p:txBody>
        </p:sp>
        <p:sp>
          <p:nvSpPr>
            <p:cNvPr id="27" name="Text 20"/>
            <p:cNvSpPr/>
            <p:nvPr/>
          </p:nvSpPr>
          <p:spPr>
            <a:xfrm>
              <a:off x="7866189" y="6665379"/>
              <a:ext cx="3311482" cy="1336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05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Therapist &amp; room assigned.</a:t>
              </a:r>
              <a:endParaRPr lang="en-US" sz="105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B5E1BAD-1063-57D6-4D23-5BAFF9337B7F}"/>
              </a:ext>
            </a:extLst>
          </p:cNvPr>
          <p:cNvGrpSpPr/>
          <p:nvPr/>
        </p:nvGrpSpPr>
        <p:grpSpPr>
          <a:xfrm>
            <a:off x="1039005" y="7002932"/>
            <a:ext cx="12644338" cy="594831"/>
            <a:chOff x="1039005" y="6857758"/>
            <a:chExt cx="10138666" cy="594831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5654A8D-B738-F00C-B196-78BA2C5F4830}"/>
                </a:ext>
              </a:extLst>
            </p:cNvPr>
            <p:cNvGrpSpPr/>
            <p:nvPr/>
          </p:nvGrpSpPr>
          <p:grpSpPr>
            <a:xfrm>
              <a:off x="1039005" y="6857758"/>
              <a:ext cx="5018190" cy="594831"/>
              <a:chOff x="1039005" y="6857758"/>
              <a:chExt cx="5018190" cy="594831"/>
            </a:xfrm>
          </p:grpSpPr>
          <p:sp>
            <p:nvSpPr>
              <p:cNvPr id="29" name="Shape 22"/>
              <p:cNvSpPr/>
              <p:nvPr/>
            </p:nvSpPr>
            <p:spPr>
              <a:xfrm>
                <a:off x="1039005" y="7078016"/>
                <a:ext cx="5018190" cy="9245"/>
              </a:xfrm>
              <a:prstGeom prst="rect">
                <a:avLst/>
              </a:prstGeom>
              <a:solidFill>
                <a:srgbClr val="B88E23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Text 23"/>
              <p:cNvSpPr/>
              <p:nvPr/>
            </p:nvSpPr>
            <p:spPr>
              <a:xfrm>
                <a:off x="1039005" y="7138254"/>
                <a:ext cx="1356480" cy="13051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650"/>
                  </a:lnSpc>
                  <a:buNone/>
                </a:pPr>
                <a:r>
                  <a:rPr lang="en-US" sz="1350" dirty="0">
                    <a:solidFill>
                      <a:srgbClr val="454240"/>
                    </a:solidFill>
                    <a:latin typeface="Libre Baskerville" pitchFamily="34" charset="0"/>
                    <a:ea typeface="Libre Baskerville" pitchFamily="34" charset="-122"/>
                    <a:cs typeface="Libre Baskerville" pitchFamily="34" charset="-120"/>
                  </a:rPr>
                  <a:t>Therapy &amp; Feedback</a:t>
                </a:r>
                <a:endParaRPr lang="en-US" sz="1350" dirty="0"/>
              </a:p>
            </p:txBody>
          </p:sp>
          <p:sp>
            <p:nvSpPr>
              <p:cNvPr id="31" name="Text 24"/>
              <p:cNvSpPr/>
              <p:nvPr/>
            </p:nvSpPr>
            <p:spPr>
              <a:xfrm>
                <a:off x="1039005" y="7318895"/>
                <a:ext cx="5018190" cy="13369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700"/>
                  </a:lnSpc>
                  <a:buNone/>
                </a:pPr>
                <a:r>
                  <a:rPr lang="en-US" sz="1050" dirty="0">
                    <a:solidFill>
                      <a:srgbClr val="454240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Session completion &amp; multilingual star rating.</a:t>
                </a:r>
                <a:endParaRPr lang="en-US" sz="1050" dirty="0"/>
              </a:p>
            </p:txBody>
          </p:sp>
          <p:sp>
            <p:nvSpPr>
              <p:cNvPr id="41" name="Text 9">
                <a:extLst>
                  <a:ext uri="{FF2B5EF4-FFF2-40B4-BE49-F238E27FC236}">
                    <a16:creationId xmlns:a16="http://schemas.microsoft.com/office/drawing/2014/main" id="{63848988-2831-DC3D-0328-0087FC9921B8}"/>
                  </a:ext>
                </a:extLst>
              </p:cNvPr>
              <p:cNvSpPr/>
              <p:nvPr/>
            </p:nvSpPr>
            <p:spPr>
              <a:xfrm>
                <a:off x="1039005" y="6857758"/>
                <a:ext cx="251315" cy="2295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700"/>
                  </a:lnSpc>
                  <a:buNone/>
                </a:pPr>
                <a:r>
                  <a:rPr lang="en-US" sz="1050" dirty="0">
                    <a:solidFill>
                      <a:srgbClr val="454240"/>
                    </a:solidFill>
                    <a:latin typeface="Libre Baskerville Light" pitchFamily="34" charset="0"/>
                    <a:ea typeface="Libre Baskerville Light" pitchFamily="34" charset="-122"/>
                    <a:cs typeface="Libre Baskerville Light" pitchFamily="34" charset="-120"/>
                  </a:rPr>
                  <a:t>04</a:t>
                </a:r>
                <a:endParaRPr lang="en-US" sz="1050" dirty="0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3218D33-3D77-9C01-9E3C-0D71304130B1}"/>
                </a:ext>
              </a:extLst>
            </p:cNvPr>
            <p:cNvGrpSpPr/>
            <p:nvPr/>
          </p:nvGrpSpPr>
          <p:grpSpPr>
            <a:xfrm>
              <a:off x="6159393" y="6891920"/>
              <a:ext cx="5018278" cy="560669"/>
              <a:chOff x="6159393" y="6891920"/>
              <a:chExt cx="5018278" cy="560669"/>
            </a:xfrm>
          </p:grpSpPr>
          <p:sp>
            <p:nvSpPr>
              <p:cNvPr id="33" name="Shape 26"/>
              <p:cNvSpPr/>
              <p:nvPr/>
            </p:nvSpPr>
            <p:spPr>
              <a:xfrm>
                <a:off x="6159393" y="7078016"/>
                <a:ext cx="5018278" cy="9245"/>
              </a:xfrm>
              <a:prstGeom prst="rect">
                <a:avLst/>
              </a:prstGeom>
              <a:solidFill>
                <a:srgbClr val="B88E23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Text 27"/>
              <p:cNvSpPr/>
              <p:nvPr/>
            </p:nvSpPr>
            <p:spPr>
              <a:xfrm>
                <a:off x="6159393" y="7138254"/>
                <a:ext cx="1277513" cy="13051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650"/>
                  </a:lnSpc>
                  <a:buNone/>
                </a:pPr>
                <a:r>
                  <a:rPr lang="en-US" sz="1350" dirty="0">
                    <a:solidFill>
                      <a:srgbClr val="454240"/>
                    </a:solidFill>
                    <a:latin typeface="Libre Baskerville" pitchFamily="34" charset="0"/>
                    <a:ea typeface="Libre Baskerville" pitchFamily="34" charset="-122"/>
                    <a:cs typeface="Libre Baskerville" pitchFamily="34" charset="-120"/>
                  </a:rPr>
                  <a:t>Admin Monitoring</a:t>
                </a:r>
                <a:endParaRPr lang="en-US" sz="1350" dirty="0"/>
              </a:p>
            </p:txBody>
          </p:sp>
          <p:sp>
            <p:nvSpPr>
              <p:cNvPr id="35" name="Text 28"/>
              <p:cNvSpPr/>
              <p:nvPr/>
            </p:nvSpPr>
            <p:spPr>
              <a:xfrm>
                <a:off x="6159393" y="7318895"/>
                <a:ext cx="5018278" cy="13369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700"/>
                  </a:lnSpc>
                  <a:buNone/>
                </a:pPr>
                <a:r>
                  <a:rPr lang="en-US" sz="1050" dirty="0">
                    <a:solidFill>
                      <a:srgbClr val="454240"/>
                    </a:solidFill>
                    <a:latin typeface="DM Sans" pitchFamily="34" charset="0"/>
                    <a:ea typeface="DM Sans" pitchFamily="34" charset="-122"/>
                    <a:cs typeface="DM Sans" pitchFamily="34" charset="-120"/>
                  </a:rPr>
                  <a:t>Overrides logged in audit trail.</a:t>
                </a:r>
                <a:endParaRPr lang="en-US" sz="1050" dirty="0"/>
              </a:p>
            </p:txBody>
          </p:sp>
          <p:sp>
            <p:nvSpPr>
              <p:cNvPr id="42" name="Text 9">
                <a:extLst>
                  <a:ext uri="{FF2B5EF4-FFF2-40B4-BE49-F238E27FC236}">
                    <a16:creationId xmlns:a16="http://schemas.microsoft.com/office/drawing/2014/main" id="{3AB8B755-971E-2A4A-7092-34B44785B08C}"/>
                  </a:ext>
                </a:extLst>
              </p:cNvPr>
              <p:cNvSpPr/>
              <p:nvPr/>
            </p:nvSpPr>
            <p:spPr>
              <a:xfrm>
                <a:off x="6217231" y="6891920"/>
                <a:ext cx="251315" cy="186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700"/>
                  </a:lnSpc>
                  <a:buNone/>
                </a:pPr>
                <a:r>
                  <a:rPr lang="en-US" sz="1050" dirty="0">
                    <a:solidFill>
                      <a:srgbClr val="454240"/>
                    </a:solidFill>
                    <a:latin typeface="Libre Baskerville Light" pitchFamily="34" charset="0"/>
                    <a:ea typeface="Libre Baskerville Light" pitchFamily="34" charset="-122"/>
                    <a:cs typeface="Libre Baskerville Light" pitchFamily="34" charset="-120"/>
                  </a:rPr>
                  <a:t>05</a:t>
                </a:r>
                <a:endParaRPr lang="en-US" sz="1050" dirty="0"/>
              </a:p>
            </p:txBody>
          </p:sp>
        </p:grp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9326E182-E469-875A-C673-415EBCF35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1906" y="7800975"/>
            <a:ext cx="1724025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3030" y="340281"/>
            <a:ext cx="3389590" cy="386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Feasibility &amp; Viability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3030" y="974408"/>
            <a:ext cx="13764339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Growing Ayurveda adoption drives demand for efficient solutions.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33030" y="9205079"/>
            <a:ext cx="1764744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Challenges Addressed: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3030" y="9583936"/>
            <a:ext cx="13764339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scheduling resolves conflicts.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33030" y="9825038"/>
            <a:ext cx="13764339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token system for patient convenience.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3030" y="10066139"/>
            <a:ext cx="13764339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Simplified feedback ensures participation.</a:t>
            </a:r>
            <a:endParaRPr lang="en-US" sz="95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B3E811-3FBD-356D-15A1-E1873FB20C74}"/>
              </a:ext>
            </a:extLst>
          </p:cNvPr>
          <p:cNvSpPr/>
          <p:nvPr/>
        </p:nvSpPr>
        <p:spPr>
          <a:xfrm>
            <a:off x="12790449" y="7716644"/>
            <a:ext cx="1728439" cy="423746"/>
          </a:xfrm>
          <a:prstGeom prst="round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graph showing different colored bars&#10;&#10;AI-generated content may be incorrect.">
            <a:extLst>
              <a:ext uri="{FF2B5EF4-FFF2-40B4-BE49-F238E27FC236}">
                <a16:creationId xmlns:a16="http://schemas.microsoft.com/office/drawing/2014/main" id="{788BC24E-E126-C53A-A20C-9B24522E2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970" y="1058313"/>
            <a:ext cx="7395755" cy="6658331"/>
          </a:xfrm>
          <a:prstGeom prst="rect">
            <a:avLst/>
          </a:prstGeom>
        </p:spPr>
      </p:pic>
      <p:sp>
        <p:nvSpPr>
          <p:cNvPr id="15" name="Text 1">
            <a:extLst>
              <a:ext uri="{FF2B5EF4-FFF2-40B4-BE49-F238E27FC236}">
                <a16:creationId xmlns:a16="http://schemas.microsoft.com/office/drawing/2014/main" id="{B11DAD35-BFC0-FD79-3535-49B9742E06E2}"/>
              </a:ext>
            </a:extLst>
          </p:cNvPr>
          <p:cNvSpPr/>
          <p:nvPr/>
        </p:nvSpPr>
        <p:spPr>
          <a:xfrm>
            <a:off x="587386" y="2212093"/>
            <a:ext cx="7076157" cy="4138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</a:rPr>
              <a:t>The AYUSH market in India has grown from USD 2.85 billion in 2014 to</a:t>
            </a:r>
          </a:p>
          <a:p>
            <a:pPr>
              <a:lnSpc>
                <a:spcPts val="1550"/>
              </a:lnSpc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</a:rPr>
              <a:t>      USD 43.4 billion by 2023. </a:t>
            </a:r>
          </a:p>
          <a:p>
            <a:pPr>
              <a:lnSpc>
                <a:spcPts val="1550"/>
              </a:lnSpc>
            </a:pPr>
            <a:br>
              <a:rPr lang="en-US" sz="1600" dirty="0">
                <a:solidFill>
                  <a:srgbClr val="454240"/>
                </a:solidFill>
                <a:latin typeface="DM Sans" pitchFamily="34" charset="0"/>
              </a:rPr>
            </a:br>
            <a:endParaRPr lang="en-US" sz="1600" dirty="0">
              <a:solidFill>
                <a:srgbClr val="454240"/>
              </a:solidFill>
              <a:latin typeface="DM Sans" pitchFamily="34" charset="0"/>
            </a:endParaRPr>
          </a:p>
          <a:p>
            <a:pPr marL="285750" indent="-285750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</a:rPr>
              <a:t>The number of registered AYUSH practitioners is ~ 755,780</a:t>
            </a:r>
            <a:br>
              <a:rPr lang="en-US" sz="1600" dirty="0">
                <a:solidFill>
                  <a:srgbClr val="454240"/>
                </a:solidFill>
                <a:latin typeface="DM Sans" pitchFamily="34" charset="0"/>
              </a:rPr>
            </a:br>
            <a:br>
              <a:rPr lang="en-US" sz="1600" dirty="0">
                <a:solidFill>
                  <a:srgbClr val="454240"/>
                </a:solidFill>
                <a:latin typeface="DM Sans" pitchFamily="34" charset="0"/>
              </a:rPr>
            </a:br>
            <a:endParaRPr lang="en-US" sz="1600" dirty="0">
              <a:solidFill>
                <a:srgbClr val="454240"/>
              </a:solidFill>
              <a:latin typeface="DM Sans" pitchFamily="34" charset="0"/>
            </a:endParaRPr>
          </a:p>
          <a:p>
            <a:pPr marL="285750" indent="-285750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</a:rPr>
              <a:t>Govt. budget allocation to AYUSH has increased</a:t>
            </a:r>
            <a:br>
              <a:rPr lang="en-US" sz="1600" dirty="0">
                <a:solidFill>
                  <a:srgbClr val="454240"/>
                </a:solidFill>
                <a:latin typeface="DM Sans" pitchFamily="34" charset="0"/>
              </a:rPr>
            </a:br>
            <a:r>
              <a:rPr lang="en-US" sz="1600" dirty="0">
                <a:solidFill>
                  <a:srgbClr val="454240"/>
                </a:solidFill>
                <a:latin typeface="DM Sans" pitchFamily="34" charset="0"/>
              </a:rPr>
              <a:t> (for FY26 ~Rs 3,992.9 crore vs ~Rs 3,497.6 crore previous year) </a:t>
            </a:r>
            <a:br>
              <a:rPr lang="en-US" sz="1600" dirty="0">
                <a:solidFill>
                  <a:srgbClr val="454240"/>
                </a:solidFill>
                <a:latin typeface="DM Sans" pitchFamily="34" charset="0"/>
              </a:rPr>
            </a:br>
            <a:r>
              <a:rPr lang="en-US" sz="1600" dirty="0">
                <a:solidFill>
                  <a:srgbClr val="454240"/>
                </a:solidFill>
                <a:latin typeface="DM Sans" pitchFamily="34" charset="0"/>
              </a:rPr>
              <a:t>→ indicating rising investment. </a:t>
            </a:r>
          </a:p>
          <a:p>
            <a:pPr marL="285750" indent="-285750">
              <a:lnSpc>
                <a:spcPts val="155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454240"/>
              </a:solidFill>
              <a:latin typeface="DM Sans" pitchFamily="34" charset="0"/>
            </a:endParaRPr>
          </a:p>
          <a:p>
            <a:pPr marL="285750" indent="-285750">
              <a:lnSpc>
                <a:spcPts val="1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</a:rPr>
              <a:t>Number of AYUSH beneficiaries in government hospitals and </a:t>
            </a:r>
          </a:p>
          <a:p>
            <a:pPr>
              <a:lnSpc>
                <a:spcPts val="1550"/>
              </a:lnSpc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</a:rPr>
              <a:t>     dispensaries have risen from 2.5 Crores (FY2017-18) to </a:t>
            </a:r>
          </a:p>
          <a:p>
            <a:pPr>
              <a:lnSpc>
                <a:spcPts val="1550"/>
              </a:lnSpc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</a:rPr>
              <a:t>     8.42 Crores (FY2022-23). </a:t>
            </a:r>
            <a:br>
              <a:rPr lang="en-US" sz="1600" dirty="0">
                <a:solidFill>
                  <a:srgbClr val="454240"/>
                </a:solidFill>
                <a:latin typeface="DM Sans" pitchFamily="34" charset="0"/>
              </a:rPr>
            </a:br>
            <a:endParaRPr lang="en-US" sz="1600" dirty="0">
              <a:solidFill>
                <a:srgbClr val="454240"/>
              </a:solidFill>
              <a:latin typeface="DM Sans" pitchFamily="34" charset="0"/>
            </a:endParaRPr>
          </a:p>
          <a:p>
            <a:pPr marL="285750" indent="-285750">
              <a:lnSpc>
                <a:spcPts val="155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454240"/>
              </a:solidFill>
              <a:latin typeface="DM Sans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68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Impact &amp; Benefits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09280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943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Time Saved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434358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scheduling reduces waiting time by 60%.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809280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2943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Enhanced Security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3434358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Role-based access ensures data protection.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809280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2943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Accountability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3434358"/>
            <a:ext cx="3308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Audit logs ensure transparency.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613791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4253" y="47484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Inclusivity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644253" y="5238869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Multilingual UI supports rural patients.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893" y="4613791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86356" y="47484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Builds Trust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6086356" y="5238869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Between patients and practitioners.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793790" y="62198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Backed by AYUSH growth stats, AyurSutra improves adoption in clinics and encourages digital health in traditional medicine.</a:t>
            </a:r>
            <a:endParaRPr lang="en-US" sz="175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0F5D9A-8FF6-D97D-0234-356A7B45E8C2}"/>
              </a:ext>
            </a:extLst>
          </p:cNvPr>
          <p:cNvSpPr/>
          <p:nvPr/>
        </p:nvSpPr>
        <p:spPr>
          <a:xfrm>
            <a:off x="12790449" y="7716644"/>
            <a:ext cx="1728439" cy="423746"/>
          </a:xfrm>
          <a:prstGeom prst="round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9DF7426-AEDA-128B-9F63-F560DFA7ECAC}"/>
              </a:ext>
            </a:extLst>
          </p:cNvPr>
          <p:cNvSpPr/>
          <p:nvPr/>
        </p:nvSpPr>
        <p:spPr>
          <a:xfrm>
            <a:off x="12901961" y="7567961"/>
            <a:ext cx="1728439" cy="423746"/>
          </a:xfrm>
          <a:prstGeom prst="round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77E64-DD88-9C55-163E-B6F6DB921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6782F7-C070-513D-0B18-AC3BBADF0E6B}"/>
              </a:ext>
            </a:extLst>
          </p:cNvPr>
          <p:cNvSpPr/>
          <p:nvPr/>
        </p:nvSpPr>
        <p:spPr>
          <a:xfrm>
            <a:off x="793790" y="16468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</a:rPr>
              <a:t>Team Members</a:t>
            </a:r>
            <a:endParaRPr lang="en-US" sz="445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5D75EAB-E52B-2042-2A1A-60715772A624}"/>
              </a:ext>
            </a:extLst>
          </p:cNvPr>
          <p:cNvSpPr/>
          <p:nvPr/>
        </p:nvSpPr>
        <p:spPr>
          <a:xfrm>
            <a:off x="12790449" y="7716644"/>
            <a:ext cx="1728439" cy="423746"/>
          </a:xfrm>
          <a:prstGeom prst="round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495B6D6-6FA6-FD7D-7F31-36DDFEF49E1A}"/>
              </a:ext>
            </a:extLst>
          </p:cNvPr>
          <p:cNvSpPr/>
          <p:nvPr/>
        </p:nvSpPr>
        <p:spPr>
          <a:xfrm>
            <a:off x="12901961" y="7567961"/>
            <a:ext cx="1728439" cy="423746"/>
          </a:xfrm>
          <a:prstGeom prst="roundRect">
            <a:avLst/>
          </a:prstGeom>
          <a:solidFill>
            <a:srgbClr val="FFFD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CA01C3C-BDE5-823D-4975-A45BEB404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825749"/>
              </p:ext>
            </p:extLst>
          </p:nvPr>
        </p:nvGraphicFramePr>
        <p:xfrm>
          <a:off x="1338145" y="2580888"/>
          <a:ext cx="11842595" cy="3563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1816">
                  <a:extLst>
                    <a:ext uri="{9D8B030D-6E8A-4147-A177-3AD203B41FA5}">
                      <a16:colId xmlns:a16="http://schemas.microsoft.com/office/drawing/2014/main" val="1677264850"/>
                    </a:ext>
                  </a:extLst>
                </a:gridCol>
                <a:gridCol w="5950779">
                  <a:extLst>
                    <a:ext uri="{9D8B030D-6E8A-4147-A177-3AD203B41FA5}">
                      <a16:colId xmlns:a16="http://schemas.microsoft.com/office/drawing/2014/main" val="1752399246"/>
                    </a:ext>
                  </a:extLst>
                </a:gridCol>
              </a:tblGrid>
              <a:tr h="509062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rgbClr val="454240"/>
                          </a:solidFill>
                          <a:latin typeface="DM Sans" pitchFamily="34" charset="0"/>
                          <a:ea typeface="+mn-ea"/>
                          <a:cs typeface="+mn-cs"/>
                        </a:rPr>
                        <a:t>ID Number</a:t>
                      </a:r>
                      <a:endParaRPr lang="en-IN" sz="1600" kern="1200" dirty="0">
                        <a:solidFill>
                          <a:srgbClr val="454240"/>
                        </a:solidFill>
                        <a:latin typeface="DM Sans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C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rgbClr val="454240"/>
                          </a:solidFill>
                          <a:latin typeface="DM Sans" pitchFamily="34" charset="0"/>
                          <a:ea typeface="+mn-ea"/>
                          <a:cs typeface="+mn-cs"/>
                        </a:rPr>
                        <a:t>Name</a:t>
                      </a:r>
                      <a:endParaRPr lang="en-IN" sz="1600" kern="1200" dirty="0">
                        <a:solidFill>
                          <a:srgbClr val="454240"/>
                        </a:solidFill>
                        <a:latin typeface="DM Sans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20462"/>
                  </a:ext>
                </a:extLst>
              </a:tr>
              <a:tr h="509062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rgbClr val="454240"/>
                          </a:solidFill>
                          <a:latin typeface="DM Sans" pitchFamily="34" charset="0"/>
                          <a:ea typeface="+mn-ea"/>
                          <a:cs typeface="+mn-cs"/>
                        </a:rPr>
                        <a:t>2300039056</a:t>
                      </a:r>
                      <a:endParaRPr lang="en-IN" sz="1600" kern="1200" dirty="0">
                        <a:solidFill>
                          <a:srgbClr val="454240"/>
                        </a:solidFill>
                        <a:latin typeface="DM Sans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rgbClr val="454240"/>
                          </a:solidFill>
                          <a:latin typeface="DM Sans" pitchFamily="34" charset="0"/>
                          <a:ea typeface="+mn-ea"/>
                          <a:cs typeface="+mn-cs"/>
                        </a:rPr>
                        <a:t>Vasanth Kumar </a:t>
                      </a:r>
                      <a:r>
                        <a:rPr lang="en-US" sz="1600" kern="1200" dirty="0" err="1">
                          <a:solidFill>
                            <a:srgbClr val="454240"/>
                          </a:solidFill>
                          <a:latin typeface="DM Sans" pitchFamily="34" charset="0"/>
                          <a:ea typeface="+mn-ea"/>
                          <a:cs typeface="+mn-cs"/>
                        </a:rPr>
                        <a:t>Nimmiti</a:t>
                      </a:r>
                      <a:endParaRPr lang="en-IN" sz="1600" kern="1200" dirty="0">
                        <a:solidFill>
                          <a:srgbClr val="454240"/>
                        </a:solidFill>
                        <a:latin typeface="DM Sans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56820"/>
                  </a:ext>
                </a:extLst>
              </a:tr>
              <a:tr h="509062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rgbClr val="454240"/>
                          </a:solidFill>
                          <a:latin typeface="DM Sans" pitchFamily="34" charset="0"/>
                          <a:ea typeface="+mn-ea"/>
                          <a:cs typeface="+mn-cs"/>
                        </a:rPr>
                        <a:t>2300039055</a:t>
                      </a:r>
                      <a:endParaRPr lang="en-IN" sz="1600" kern="1200" dirty="0">
                        <a:solidFill>
                          <a:srgbClr val="454240"/>
                        </a:solidFill>
                        <a:latin typeface="DM Sans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rgbClr val="454240"/>
                          </a:solidFill>
                          <a:latin typeface="DM Sans" pitchFamily="34" charset="0"/>
                          <a:ea typeface="+mn-ea"/>
                          <a:cs typeface="+mn-cs"/>
                        </a:rPr>
                        <a:t>Mani Chandan Satya Venkata Sai Namana</a:t>
                      </a:r>
                      <a:endParaRPr lang="en-IN" sz="1600" kern="1200" dirty="0">
                        <a:solidFill>
                          <a:srgbClr val="454240"/>
                        </a:solidFill>
                        <a:latin typeface="DM Sans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711367"/>
                  </a:ext>
                </a:extLst>
              </a:tr>
              <a:tr h="509062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rgbClr val="454240"/>
                          </a:solidFill>
                          <a:latin typeface="DM Sans" pitchFamily="34" charset="0"/>
                          <a:ea typeface="+mn-ea"/>
                          <a:cs typeface="+mn-cs"/>
                        </a:rPr>
                        <a:t>2300039132</a:t>
                      </a:r>
                      <a:endParaRPr lang="en-IN" sz="1600" kern="1200" dirty="0">
                        <a:solidFill>
                          <a:srgbClr val="454240"/>
                        </a:solidFill>
                        <a:latin typeface="DM Sans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rgbClr val="454240"/>
                          </a:solidFill>
                          <a:latin typeface="DM Sans" pitchFamily="34" charset="0"/>
                          <a:ea typeface="+mn-ea"/>
                          <a:cs typeface="+mn-cs"/>
                        </a:rPr>
                        <a:t>Venkata Siva Naga Sai Siddiq Mulaveesala</a:t>
                      </a:r>
                      <a:endParaRPr lang="en-IN" sz="1600" kern="1200" dirty="0">
                        <a:solidFill>
                          <a:srgbClr val="454240"/>
                        </a:solidFill>
                        <a:latin typeface="DM Sans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18112"/>
                  </a:ext>
                </a:extLst>
              </a:tr>
              <a:tr h="509062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rgbClr val="454240"/>
                          </a:solidFill>
                          <a:latin typeface="DM Sans" pitchFamily="34" charset="0"/>
                          <a:ea typeface="+mn-ea"/>
                          <a:cs typeface="+mn-cs"/>
                        </a:rPr>
                        <a:t>2300039064</a:t>
                      </a:r>
                      <a:endParaRPr lang="en-IN" sz="1600" kern="1200" dirty="0">
                        <a:solidFill>
                          <a:srgbClr val="454240"/>
                        </a:solidFill>
                        <a:latin typeface="DM Sans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rgbClr val="454240"/>
                          </a:solidFill>
                          <a:latin typeface="DM Sans" pitchFamily="34" charset="0"/>
                          <a:ea typeface="+mn-ea"/>
                          <a:cs typeface="+mn-cs"/>
                        </a:rPr>
                        <a:t>Samba Siva Rao </a:t>
                      </a:r>
                      <a:r>
                        <a:rPr lang="en-US" sz="1600" kern="1200" dirty="0" err="1">
                          <a:solidFill>
                            <a:srgbClr val="454240"/>
                          </a:solidFill>
                          <a:latin typeface="DM Sans" pitchFamily="34" charset="0"/>
                          <a:ea typeface="+mn-ea"/>
                          <a:cs typeface="+mn-cs"/>
                        </a:rPr>
                        <a:t>Pentakota</a:t>
                      </a:r>
                      <a:endParaRPr lang="en-IN" sz="1600" kern="1200" dirty="0">
                        <a:solidFill>
                          <a:srgbClr val="454240"/>
                        </a:solidFill>
                        <a:latin typeface="DM Sans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562102"/>
                  </a:ext>
                </a:extLst>
              </a:tr>
              <a:tr h="509062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rgbClr val="454240"/>
                          </a:solidFill>
                          <a:latin typeface="DM Sans" pitchFamily="34" charset="0"/>
                          <a:ea typeface="+mn-ea"/>
                          <a:cs typeface="+mn-cs"/>
                        </a:rPr>
                        <a:t>2300039124</a:t>
                      </a:r>
                      <a:endParaRPr lang="en-IN" sz="1600" kern="1200" dirty="0">
                        <a:solidFill>
                          <a:srgbClr val="454240"/>
                        </a:solidFill>
                        <a:latin typeface="DM Sans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rgbClr val="454240"/>
                          </a:solidFill>
                          <a:latin typeface="DM Sans" pitchFamily="34" charset="0"/>
                          <a:ea typeface="+mn-ea"/>
                          <a:cs typeface="+mn-cs"/>
                        </a:rPr>
                        <a:t>Hari Datti</a:t>
                      </a:r>
                      <a:endParaRPr lang="en-IN" sz="1600" kern="1200" dirty="0">
                        <a:solidFill>
                          <a:srgbClr val="454240"/>
                        </a:solidFill>
                        <a:latin typeface="DM Sans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167169"/>
                  </a:ext>
                </a:extLst>
              </a:tr>
              <a:tr h="509062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rgbClr val="454240"/>
                          </a:solidFill>
                          <a:latin typeface="DM Sans" pitchFamily="34" charset="0"/>
                          <a:ea typeface="+mn-ea"/>
                          <a:cs typeface="+mn-cs"/>
                        </a:rPr>
                        <a:t>2300030655</a:t>
                      </a:r>
                      <a:endParaRPr lang="en-IN" sz="1600" kern="1200" dirty="0">
                        <a:solidFill>
                          <a:srgbClr val="454240"/>
                        </a:solidFill>
                        <a:latin typeface="DM Sans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kern="1200" dirty="0">
                          <a:solidFill>
                            <a:srgbClr val="454240"/>
                          </a:solidFill>
                          <a:latin typeface="DM Sans" pitchFamily="34" charset="0"/>
                          <a:ea typeface="+mn-ea"/>
                          <a:cs typeface="+mn-cs"/>
                        </a:rPr>
                        <a:t>Akshaya </a:t>
                      </a:r>
                      <a:r>
                        <a:rPr lang="en-US" sz="1600" kern="1200" dirty="0" err="1">
                          <a:solidFill>
                            <a:srgbClr val="454240"/>
                          </a:solidFill>
                          <a:latin typeface="DM Sans" pitchFamily="34" charset="0"/>
                          <a:ea typeface="+mn-ea"/>
                          <a:cs typeface="+mn-cs"/>
                        </a:rPr>
                        <a:t>Sunkavalli</a:t>
                      </a:r>
                      <a:endParaRPr lang="en-IN" sz="1600" kern="1200" dirty="0">
                        <a:solidFill>
                          <a:srgbClr val="454240"/>
                        </a:solidFill>
                        <a:latin typeface="DM Sans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523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094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508</Words>
  <Application>Microsoft Office PowerPoint</Application>
  <PresentationFormat>Custom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Libre Baskerville</vt:lpstr>
      <vt:lpstr>Libre Baskerville Light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Venkata Siva Naga Sai Siddiq Mulaveesala</dc:creator>
  <cp:lastModifiedBy>Venkata Siva Naga Sai Siddiq Mulaveesala</cp:lastModifiedBy>
  <cp:revision>6</cp:revision>
  <dcterms:created xsi:type="dcterms:W3CDTF">2025-09-13T17:28:58Z</dcterms:created>
  <dcterms:modified xsi:type="dcterms:W3CDTF">2025-09-14T05:17:11Z</dcterms:modified>
</cp:coreProperties>
</file>